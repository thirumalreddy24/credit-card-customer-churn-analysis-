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66" r:id="rId6"/>
    <p:sldId id="265" r:id="rId7"/>
    <p:sldId id="267" r:id="rId8"/>
    <p:sldId id="269" r:id="rId9"/>
    <p:sldId id="270" r:id="rId10"/>
    <p:sldId id="259" r:id="rId11"/>
  </p:sldIdLst>
  <p:sldSz cx="12192000" cy="6858000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Libre Baskerville" panose="02000000000000000000" pitchFamily="2" charset="0"/>
      <p:regular r:id="rId14"/>
      <p:bold r:id="rId15"/>
      <p: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915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610556" y="3747483"/>
            <a:ext cx="724618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EDA ANALYSIS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Card Customer Churn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22F71-83AE-E709-EBF9-861EE592CA87}"/>
              </a:ext>
            </a:extLst>
          </p:cNvPr>
          <p:cNvSpPr txBox="1"/>
          <p:nvPr/>
        </p:nvSpPr>
        <p:spPr>
          <a:xfrm>
            <a:off x="245806" y="265471"/>
            <a:ext cx="118675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06680">
              <a:lnSpc>
                <a:spcPct val="100000"/>
              </a:lnSpc>
              <a:spcBef>
                <a:spcPts val="100"/>
              </a:spcBef>
            </a:pPr>
            <a:r>
              <a:rPr lang="en-US" sz="2400" spc="-105">
                <a:latin typeface="Arial Black"/>
                <a:cs typeface="Arial Black"/>
              </a:rPr>
              <a:t>Problem </a:t>
            </a:r>
            <a:r>
              <a:rPr lang="en-US" sz="2400" spc="-120">
                <a:latin typeface="Arial Black"/>
                <a:cs typeface="Arial Black"/>
              </a:rPr>
              <a:t>Statement:</a:t>
            </a:r>
            <a:r>
              <a:rPr lang="en-US" sz="2400" spc="-90">
                <a:latin typeface="Arial Black"/>
                <a:cs typeface="Arial Black"/>
              </a:rPr>
              <a:t> </a:t>
            </a:r>
            <a:r>
              <a:rPr lang="en-US" sz="2400">
                <a:latin typeface="Arial MT"/>
                <a:cs typeface="Arial MT"/>
              </a:rPr>
              <a:t>Customers’</a:t>
            </a:r>
            <a:r>
              <a:rPr lang="en-US" sz="2400" spc="-25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leaving</a:t>
            </a:r>
            <a:r>
              <a:rPr lang="en-US" sz="2400" spc="-3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credit</a:t>
            </a:r>
            <a:r>
              <a:rPr lang="en-US" sz="2400" spc="-30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cards</a:t>
            </a:r>
            <a:r>
              <a:rPr lang="en-US" sz="2400" spc="-25">
                <a:latin typeface="Arial MT"/>
                <a:cs typeface="Arial MT"/>
              </a:rPr>
              <a:t> services</a:t>
            </a:r>
            <a:r>
              <a:rPr lang="en-US" sz="2400" spc="-3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would</a:t>
            </a:r>
            <a:r>
              <a:rPr lang="en-US" sz="2400" spc="-25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lead</a:t>
            </a:r>
            <a:r>
              <a:rPr lang="en-US" sz="2400" spc="-30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bank</a:t>
            </a:r>
            <a:r>
              <a:rPr lang="en-US" sz="2400" spc="-25">
                <a:latin typeface="Arial MT"/>
                <a:cs typeface="Arial MT"/>
              </a:rPr>
              <a:t> </a:t>
            </a:r>
            <a:r>
              <a:rPr lang="en-US" sz="2400" spc="50">
                <a:latin typeface="Arial MT"/>
                <a:cs typeface="Arial MT"/>
              </a:rPr>
              <a:t>to</a:t>
            </a:r>
            <a:r>
              <a:rPr lang="en-US" sz="2400" spc="-3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loss,</a:t>
            </a:r>
            <a:r>
              <a:rPr lang="en-US" sz="2400" spc="-25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so</a:t>
            </a:r>
            <a:r>
              <a:rPr lang="en-US" sz="2400" spc="-30">
                <a:latin typeface="Arial MT"/>
                <a:cs typeface="Arial MT"/>
              </a:rPr>
              <a:t> </a:t>
            </a:r>
            <a:r>
              <a:rPr lang="en-US" sz="2400" spc="-25">
                <a:latin typeface="Arial MT"/>
                <a:cs typeface="Arial MT"/>
              </a:rPr>
              <a:t>the </a:t>
            </a:r>
            <a:r>
              <a:rPr lang="en-US" sz="2400" spc="-20">
                <a:latin typeface="Arial MT"/>
                <a:cs typeface="Arial MT"/>
              </a:rPr>
              <a:t>bank</a:t>
            </a:r>
            <a:r>
              <a:rPr lang="en-US" sz="2400" spc="-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wants </a:t>
            </a:r>
            <a:r>
              <a:rPr lang="en-US" sz="2400" spc="50">
                <a:latin typeface="Arial MT"/>
                <a:cs typeface="Arial MT"/>
              </a:rPr>
              <a:t>to</a:t>
            </a:r>
            <a:r>
              <a:rPr lang="en-US" sz="2400">
                <a:latin typeface="Arial MT"/>
                <a:cs typeface="Arial MT"/>
              </a:rPr>
              <a:t> </a:t>
            </a:r>
            <a:r>
              <a:rPr lang="en-US" sz="2400" spc="-30" err="1">
                <a:latin typeface="Arial MT"/>
                <a:cs typeface="Arial MT"/>
              </a:rPr>
              <a:t>analyse</a:t>
            </a:r>
            <a:r>
              <a:rPr lang="en-US" sz="2400">
                <a:latin typeface="Arial MT"/>
                <a:cs typeface="Arial MT"/>
              </a:rPr>
              <a:t> the data of customers </a:t>
            </a:r>
            <a:r>
              <a:rPr lang="en-US" sz="2400" spc="-20">
                <a:latin typeface="Arial MT"/>
                <a:cs typeface="Arial MT"/>
              </a:rPr>
              <a:t>and</a:t>
            </a:r>
            <a:r>
              <a:rPr lang="en-US" sz="2400">
                <a:latin typeface="Arial MT"/>
                <a:cs typeface="Arial MT"/>
              </a:rPr>
              <a:t> identify the customers who will</a:t>
            </a:r>
            <a:r>
              <a:rPr lang="en-US" sz="2400" spc="-5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leave</a:t>
            </a:r>
            <a:r>
              <a:rPr lang="en-US" sz="240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their </a:t>
            </a:r>
            <a:r>
              <a:rPr lang="en-US" sz="2400">
                <a:latin typeface="Arial MT"/>
                <a:cs typeface="Arial MT"/>
              </a:rPr>
              <a:t>credit</a:t>
            </a:r>
            <a:r>
              <a:rPr lang="en-US" sz="2400" spc="-2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card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 spc="-25">
                <a:latin typeface="Arial MT"/>
                <a:cs typeface="Arial MT"/>
              </a:rPr>
              <a:t>services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and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reason </a:t>
            </a:r>
            <a:r>
              <a:rPr lang="en-US" sz="2400">
                <a:latin typeface="Arial MT"/>
                <a:cs typeface="Arial MT"/>
              </a:rPr>
              <a:t>for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 spc="-25">
                <a:latin typeface="Arial MT"/>
                <a:cs typeface="Arial MT"/>
              </a:rPr>
              <a:t>same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 spc="-75">
                <a:latin typeface="Arial MT"/>
                <a:cs typeface="Arial MT"/>
              </a:rPr>
              <a:t>–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so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that</a:t>
            </a:r>
            <a:r>
              <a:rPr lang="en-US" sz="2400" spc="-20">
                <a:latin typeface="Arial MT"/>
                <a:cs typeface="Arial MT"/>
              </a:rPr>
              <a:t> bank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could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improve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upon</a:t>
            </a:r>
            <a:r>
              <a:rPr lang="en-US" sz="2400" spc="-1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those</a:t>
            </a:r>
            <a:r>
              <a:rPr lang="en-US" sz="2400" spc="-2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areas.</a:t>
            </a:r>
            <a:endParaRPr lang="en-US" sz="2400">
              <a:latin typeface="Arial MT"/>
              <a:cs typeface="Arial M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416F6-6DDA-EC25-904C-F90034E6C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451" y="2202426"/>
            <a:ext cx="5279923" cy="3913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6A7518-EC6C-F45C-053F-FD2D8BB7C540}"/>
              </a:ext>
            </a:extLst>
          </p:cNvPr>
          <p:cNvSpPr txBox="1"/>
          <p:nvPr/>
        </p:nvSpPr>
        <p:spPr>
          <a:xfrm>
            <a:off x="245806" y="202420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/>
              <a:t>Customers leaving credit card services leads to bank losses.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/>
              <a:t>Goal: Analyze customer data to identify who is likely to churn and why.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/>
              <a:t>Objective: Prevent future churn by improving identified problem areas.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289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90CD35E-5F6F-00B6-A50C-329B830F4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u="sng"/>
              <a:t>Dataset  Analysis:</a:t>
            </a:r>
            <a:endParaRPr lang="en-IN" u="sng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20CFE4C-ACBF-C0F2-6DEA-77E54D537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2388"/>
            <a:ext cx="10515600" cy="5144575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800" spc="-40">
                <a:latin typeface="Arial MT"/>
                <a:cs typeface="Arial MT"/>
              </a:rPr>
              <a:t>By</a:t>
            </a:r>
            <a:r>
              <a:rPr lang="en-IN" sz="2800" spc="-45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Observing</a:t>
            </a:r>
            <a:r>
              <a:rPr lang="en-IN" sz="2800" spc="-40">
                <a:latin typeface="Arial MT"/>
                <a:cs typeface="Arial MT"/>
              </a:rPr>
              <a:t> </a:t>
            </a:r>
            <a:r>
              <a:rPr lang="en-IN" sz="2800" spc="-25">
                <a:latin typeface="Arial MT"/>
                <a:cs typeface="Arial MT"/>
              </a:rPr>
              <a:t>dataset</a:t>
            </a:r>
            <a:r>
              <a:rPr lang="en-IN" sz="2800" spc="-45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there</a:t>
            </a:r>
            <a:r>
              <a:rPr lang="en-IN" sz="2800" spc="-40">
                <a:latin typeface="Arial MT"/>
                <a:cs typeface="Arial MT"/>
              </a:rPr>
              <a:t> </a:t>
            </a:r>
            <a:r>
              <a:rPr lang="en-IN" sz="2800" spc="-20">
                <a:latin typeface="Arial MT"/>
                <a:cs typeface="Arial MT"/>
              </a:rPr>
              <a:t>are</a:t>
            </a:r>
            <a:r>
              <a:rPr lang="en-IN" sz="2800" spc="-40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some</a:t>
            </a:r>
            <a:r>
              <a:rPr lang="en-IN" sz="2800" spc="-45">
                <a:latin typeface="Arial MT"/>
                <a:cs typeface="Arial MT"/>
              </a:rPr>
              <a:t> </a:t>
            </a:r>
            <a:r>
              <a:rPr lang="en-IN" sz="2800" spc="-25">
                <a:latin typeface="Arial MT"/>
                <a:cs typeface="Arial MT"/>
              </a:rPr>
              <a:t>key</a:t>
            </a:r>
            <a:r>
              <a:rPr lang="en-IN" sz="2800" spc="-40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variables: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800" spc="-85">
                <a:latin typeface="Arial Black"/>
                <a:cs typeface="Arial Black"/>
              </a:rPr>
              <a:t>Attrition_Flag:</a:t>
            </a:r>
            <a:r>
              <a:rPr lang="en-IN" sz="2800" spc="-15">
                <a:latin typeface="Arial Black"/>
                <a:cs typeface="Arial Black"/>
              </a:rPr>
              <a:t> </a:t>
            </a:r>
            <a:r>
              <a:rPr lang="en-IN" sz="2800">
                <a:latin typeface="Arial MT"/>
                <a:cs typeface="Arial MT"/>
              </a:rPr>
              <a:t>Target</a:t>
            </a:r>
            <a:r>
              <a:rPr lang="en-IN" sz="2800" spc="40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variable</a:t>
            </a:r>
            <a:r>
              <a:rPr lang="en-IN" sz="2800" spc="45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indicating</a:t>
            </a:r>
            <a:r>
              <a:rPr lang="en-IN" sz="2800" spc="45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if</a:t>
            </a:r>
            <a:r>
              <a:rPr lang="en-IN" sz="2800" spc="40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customer</a:t>
            </a:r>
            <a:r>
              <a:rPr lang="en-IN" sz="2800" spc="45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attrited</a:t>
            </a:r>
            <a:r>
              <a:rPr lang="en-IN" sz="2800" spc="40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("Attrited</a:t>
            </a:r>
            <a:r>
              <a:rPr lang="en-IN" sz="2800" spc="45">
                <a:latin typeface="Arial MT"/>
                <a:cs typeface="Arial MT"/>
              </a:rPr>
              <a:t> </a:t>
            </a:r>
          </a:p>
          <a:p>
            <a:pPr marL="0" marR="22352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en-IN" sz="2800" spc="45">
                <a:latin typeface="Arial MT"/>
                <a:cs typeface="Arial MT"/>
              </a:rPr>
              <a:t>                            </a:t>
            </a:r>
            <a:r>
              <a:rPr lang="en-IN" sz="2800">
                <a:latin typeface="Arial MT"/>
                <a:cs typeface="Arial MT"/>
              </a:rPr>
              <a:t>Customer")</a:t>
            </a:r>
            <a:r>
              <a:rPr lang="en-IN" sz="2800" spc="45">
                <a:latin typeface="Arial MT"/>
                <a:cs typeface="Arial MT"/>
              </a:rPr>
              <a:t> </a:t>
            </a:r>
            <a:r>
              <a:rPr lang="en-IN" sz="2800" spc="-25">
                <a:latin typeface="Arial MT"/>
                <a:cs typeface="Arial MT"/>
              </a:rPr>
              <a:t>or </a:t>
            </a:r>
            <a:r>
              <a:rPr lang="en-IN" sz="2800">
                <a:latin typeface="Arial MT"/>
                <a:cs typeface="Arial MT"/>
              </a:rPr>
              <a:t>remained</a:t>
            </a:r>
            <a:r>
              <a:rPr lang="en-IN" sz="2800" spc="-45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("Existing</a:t>
            </a:r>
            <a:r>
              <a:rPr lang="en-IN" sz="2800" spc="-40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Customer")</a:t>
            </a:r>
            <a:endParaRPr lang="en-IN" sz="2800">
              <a:latin typeface="Arial MT"/>
              <a:cs typeface="Arial MT"/>
            </a:endParaRPr>
          </a:p>
          <a:p>
            <a:pPr marL="12700" marR="8890" indent="11239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125095" algn="l"/>
              </a:tabLst>
            </a:pPr>
            <a:r>
              <a:rPr lang="en-IN" sz="2800" spc="-155">
                <a:latin typeface="Arial Black"/>
                <a:cs typeface="Arial Black"/>
              </a:rPr>
              <a:t>Demographic</a:t>
            </a:r>
            <a:r>
              <a:rPr lang="en-IN" sz="2800" spc="-110">
                <a:latin typeface="Arial Black"/>
                <a:cs typeface="Arial Black"/>
              </a:rPr>
              <a:t> </a:t>
            </a:r>
            <a:r>
              <a:rPr lang="en-IN" sz="2800" spc="-145">
                <a:latin typeface="Arial Black"/>
                <a:cs typeface="Arial Black"/>
              </a:rPr>
              <a:t>variables:</a:t>
            </a:r>
            <a:r>
              <a:rPr lang="en-IN" sz="2800" spc="-85">
                <a:latin typeface="Arial Black"/>
                <a:cs typeface="Arial Black"/>
              </a:rPr>
              <a:t> </a:t>
            </a:r>
            <a:r>
              <a:rPr lang="en-IN" sz="2800" spc="-25">
                <a:latin typeface="Arial MT"/>
                <a:cs typeface="Arial MT"/>
              </a:rPr>
              <a:t>Customer_Age ,</a:t>
            </a:r>
            <a:r>
              <a:rPr lang="en-IN" sz="2800" spc="-5">
                <a:latin typeface="Arial MT"/>
                <a:cs typeface="Arial MT"/>
              </a:rPr>
              <a:t> </a:t>
            </a:r>
            <a:r>
              <a:rPr lang="en-IN" sz="2800" spc="-30">
                <a:latin typeface="Arial MT"/>
                <a:cs typeface="Arial MT"/>
              </a:rPr>
              <a:t>Gender,</a:t>
            </a:r>
            <a:r>
              <a:rPr lang="en-IN" sz="2800" spc="-5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Dependent_count,</a:t>
            </a:r>
          </a:p>
          <a:p>
            <a:pPr marL="0" marR="8890" indent="0">
              <a:lnSpc>
                <a:spcPct val="100000"/>
              </a:lnSpc>
              <a:spcBef>
                <a:spcPts val="994"/>
              </a:spcBef>
              <a:buNone/>
              <a:tabLst>
                <a:tab pos="125095" algn="l"/>
              </a:tabLst>
            </a:pPr>
            <a:r>
              <a:rPr lang="en-IN" sz="2800" spc="-10">
                <a:latin typeface="Arial MT"/>
                <a:cs typeface="Arial MT"/>
              </a:rPr>
              <a:t>                                             </a:t>
            </a:r>
            <a:r>
              <a:rPr lang="en-IN" sz="2800" spc="-30">
                <a:latin typeface="Arial MT"/>
                <a:cs typeface="Arial MT"/>
              </a:rPr>
              <a:t>Education_Level,</a:t>
            </a:r>
            <a:r>
              <a:rPr lang="en-IN" sz="2800" spc="-10">
                <a:latin typeface="Arial MT"/>
                <a:cs typeface="Arial MT"/>
              </a:rPr>
              <a:t>Marital_Status</a:t>
            </a:r>
            <a:endParaRPr lang="en-IN" sz="2800">
              <a:latin typeface="Arial MT"/>
              <a:cs typeface="Arial MT"/>
            </a:endParaRPr>
          </a:p>
          <a:p>
            <a:pPr marL="12700" marR="5080" indent="11239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125095" algn="l"/>
              </a:tabLst>
            </a:pPr>
            <a:r>
              <a:rPr lang="en-IN" sz="2800" b="1" spc="-150">
                <a:latin typeface="Arial Black"/>
                <a:cs typeface="Arial Black"/>
              </a:rPr>
              <a:t>Financial</a:t>
            </a:r>
            <a:r>
              <a:rPr lang="en-IN" sz="2800" b="1" spc="-140">
                <a:latin typeface="Arial Black"/>
                <a:cs typeface="Arial Black"/>
              </a:rPr>
              <a:t> </a:t>
            </a:r>
            <a:r>
              <a:rPr lang="en-IN" sz="2800" b="1" spc="-135">
                <a:latin typeface="Arial Black"/>
                <a:cs typeface="Arial Black"/>
              </a:rPr>
              <a:t>variables</a:t>
            </a:r>
            <a:r>
              <a:rPr lang="en-IN" sz="2800" spc="-135">
                <a:latin typeface="Arial MT"/>
                <a:cs typeface="Arial MT"/>
              </a:rPr>
              <a:t>:</a:t>
            </a:r>
            <a:r>
              <a:rPr lang="en-IN" sz="2800" spc="-30">
                <a:latin typeface="Arial MT"/>
                <a:cs typeface="Arial MT"/>
              </a:rPr>
              <a:t> </a:t>
            </a:r>
            <a:r>
              <a:rPr lang="en-IN" sz="2800" spc="-20">
                <a:latin typeface="Arial MT"/>
                <a:cs typeface="Arial MT"/>
              </a:rPr>
              <a:t>Income_Category,</a:t>
            </a:r>
            <a:r>
              <a:rPr lang="en-IN" sz="2800" spc="-35">
                <a:latin typeface="Arial MT"/>
                <a:cs typeface="Arial MT"/>
              </a:rPr>
              <a:t> </a:t>
            </a:r>
            <a:r>
              <a:rPr lang="en-IN" sz="2800" spc="-30">
                <a:latin typeface="Arial MT"/>
                <a:cs typeface="Arial MT"/>
              </a:rPr>
              <a:t>Card_Category,</a:t>
            </a:r>
            <a:r>
              <a:rPr lang="en-IN" sz="2800" spc="-35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Credit_Limit,</a:t>
            </a:r>
          </a:p>
          <a:p>
            <a:pPr marL="0" marR="5080" indent="0">
              <a:lnSpc>
                <a:spcPct val="100000"/>
              </a:lnSpc>
              <a:spcBef>
                <a:spcPts val="1000"/>
              </a:spcBef>
              <a:buNone/>
              <a:tabLst>
                <a:tab pos="125095" algn="l"/>
              </a:tabLst>
            </a:pPr>
            <a:r>
              <a:rPr lang="en-IN" sz="2800" spc="-10">
                <a:latin typeface="Arial MT"/>
                <a:cs typeface="Arial MT"/>
              </a:rPr>
              <a:t>                                     Total_Revolving_Bal</a:t>
            </a:r>
            <a:endParaRPr lang="en-IN" sz="2800">
              <a:latin typeface="Arial MT"/>
              <a:cs typeface="Arial MT"/>
            </a:endParaRPr>
          </a:p>
          <a:p>
            <a:pPr marL="12700" marR="81915" indent="11239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125095" algn="l"/>
              </a:tabLst>
            </a:pPr>
            <a:r>
              <a:rPr lang="en-IN" sz="2800" spc="-145">
                <a:latin typeface="Arial Black"/>
                <a:cs typeface="Arial Black"/>
              </a:rPr>
              <a:t>Behavioral</a:t>
            </a:r>
            <a:r>
              <a:rPr lang="en-IN" sz="2800" spc="-160">
                <a:latin typeface="Arial Black"/>
                <a:cs typeface="Arial Black"/>
              </a:rPr>
              <a:t> </a:t>
            </a:r>
            <a:r>
              <a:rPr lang="en-IN" sz="2800" spc="-135">
                <a:latin typeface="Arial Black"/>
                <a:cs typeface="Arial Black"/>
              </a:rPr>
              <a:t>variables</a:t>
            </a:r>
            <a:r>
              <a:rPr lang="en-IN" sz="2800" spc="-135">
                <a:latin typeface="Arial MT"/>
                <a:cs typeface="Arial MT"/>
              </a:rPr>
              <a:t>:</a:t>
            </a:r>
            <a:r>
              <a:rPr lang="en-IN" sz="2800" spc="-55">
                <a:latin typeface="Arial MT"/>
                <a:cs typeface="Arial MT"/>
              </a:rPr>
              <a:t> </a:t>
            </a:r>
            <a:r>
              <a:rPr lang="en-IN" sz="2800">
                <a:latin typeface="Arial MT"/>
                <a:cs typeface="Arial MT"/>
              </a:rPr>
              <a:t>Months_on_book,</a:t>
            </a:r>
            <a:r>
              <a:rPr lang="en-IN" sz="2800" spc="-55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Total_Relationship_Count,</a:t>
            </a:r>
          </a:p>
          <a:p>
            <a:pPr marL="0" marR="81915" indent="0">
              <a:lnSpc>
                <a:spcPct val="100000"/>
              </a:lnSpc>
              <a:spcBef>
                <a:spcPts val="1000"/>
              </a:spcBef>
              <a:buNone/>
              <a:tabLst>
                <a:tab pos="125095" algn="l"/>
              </a:tabLst>
            </a:pPr>
            <a:r>
              <a:rPr lang="en-IN" sz="2800" spc="-10">
                <a:latin typeface="Arial MT"/>
                <a:cs typeface="Arial MT"/>
              </a:rPr>
              <a:t>                                       </a:t>
            </a:r>
            <a:r>
              <a:rPr lang="en-IN" sz="2800" spc="-20">
                <a:latin typeface="Arial MT"/>
                <a:cs typeface="Arial MT"/>
              </a:rPr>
              <a:t>Months_Inactive_12_mon,</a:t>
            </a:r>
            <a:r>
              <a:rPr lang="en-IN" sz="2800" spc="-10">
                <a:latin typeface="Arial MT"/>
                <a:cs typeface="Arial MT"/>
              </a:rPr>
              <a:t>Contacts_Count_12_mon</a:t>
            </a:r>
            <a:endParaRPr lang="en-IN" sz="2800">
              <a:latin typeface="Arial MT"/>
              <a:cs typeface="Arial MT"/>
            </a:endParaRPr>
          </a:p>
          <a:p>
            <a:pPr marL="12700" marR="901065" indent="11239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125095" algn="l"/>
              </a:tabLst>
            </a:pPr>
            <a:r>
              <a:rPr lang="en-IN" sz="2800" spc="-170">
                <a:latin typeface="Arial Black"/>
                <a:cs typeface="Arial Black"/>
              </a:rPr>
              <a:t>Transaction</a:t>
            </a:r>
            <a:r>
              <a:rPr lang="en-IN" sz="2800" spc="-130">
                <a:latin typeface="Arial Black"/>
                <a:cs typeface="Arial Black"/>
              </a:rPr>
              <a:t> </a:t>
            </a:r>
            <a:r>
              <a:rPr lang="en-IN" sz="2800" spc="-135">
                <a:latin typeface="Arial Black"/>
                <a:cs typeface="Arial Black"/>
              </a:rPr>
              <a:t>variables</a:t>
            </a:r>
            <a:r>
              <a:rPr lang="en-IN" sz="2800" spc="-135">
                <a:latin typeface="Arial MT"/>
                <a:cs typeface="Arial MT"/>
              </a:rPr>
              <a:t>:</a:t>
            </a:r>
            <a:r>
              <a:rPr lang="en-IN" sz="2800" spc="-25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Total_Trans_Amt,</a:t>
            </a:r>
            <a:r>
              <a:rPr lang="en-IN" sz="2800" spc="-25">
                <a:latin typeface="Arial MT"/>
                <a:cs typeface="Arial MT"/>
              </a:rPr>
              <a:t> </a:t>
            </a:r>
            <a:r>
              <a:rPr lang="en-IN" sz="2800" spc="-10">
                <a:latin typeface="Arial MT"/>
                <a:cs typeface="Arial MT"/>
              </a:rPr>
              <a:t>Total_Trans_Ct,</a:t>
            </a:r>
          </a:p>
          <a:p>
            <a:pPr marL="0" marR="901065" indent="0">
              <a:lnSpc>
                <a:spcPct val="100000"/>
              </a:lnSpc>
              <a:spcBef>
                <a:spcPts val="1000"/>
              </a:spcBef>
              <a:buNone/>
              <a:tabLst>
                <a:tab pos="125095" algn="l"/>
              </a:tabLst>
            </a:pPr>
            <a:r>
              <a:rPr lang="en-IN" sz="2800" spc="-10">
                <a:latin typeface="Arial MT"/>
                <a:cs typeface="Arial MT"/>
              </a:rPr>
              <a:t>                                          Avg_Utilization_Ratio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4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11D7-52EC-98CE-634D-1AFB59F3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53" y="247394"/>
            <a:ext cx="7771376" cy="401535"/>
          </a:xfrm>
        </p:spPr>
        <p:txBody>
          <a:bodyPr>
            <a:noAutofit/>
          </a:bodyPr>
          <a:lstStyle/>
          <a:p>
            <a:r>
              <a:rPr lang="en-US" sz="3200" u="sng"/>
              <a:t>ATTRITION FLAG:</a:t>
            </a:r>
            <a:endParaRPr lang="en-IN" sz="3200" u="s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E9A5B-19EC-DAA8-5512-A06A0A847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1538" y="625759"/>
            <a:ext cx="6371303" cy="887361"/>
          </a:xfrm>
        </p:spPr>
        <p:txBody>
          <a:bodyPr>
            <a:noAutofit/>
          </a:bodyPr>
          <a:lstStyle/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1800" b="0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Majority are </a:t>
            </a:r>
            <a:r>
              <a:rPr lang="en-US" sz="1800" b="1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existing customer </a:t>
            </a:r>
            <a:r>
              <a:rPr lang="en-US" sz="1800" b="0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with the </a:t>
            </a:r>
            <a:r>
              <a:rPr lang="en-US" sz="1800" b="1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84% </a:t>
            </a:r>
            <a:r>
              <a:rPr lang="en-US" sz="1800" b="0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and </a:t>
            </a:r>
            <a:r>
              <a:rPr lang="en-US" sz="1800" b="1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attrited</a:t>
            </a:r>
            <a:r>
              <a:rPr lang="en-US" sz="1800" b="0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 </a:t>
            </a:r>
            <a:r>
              <a:rPr lang="en-US" sz="1800" b="1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customer</a:t>
            </a:r>
            <a:r>
              <a:rPr lang="en-US" sz="1800" b="0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 with only </a:t>
            </a:r>
            <a:r>
              <a:rPr lang="en-US" sz="1800" b="1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16%.</a:t>
            </a:r>
            <a:r>
              <a:rPr lang="en-US" sz="1800" b="0" i="0">
                <a:solidFill>
                  <a:srgbClr val="1F1F1F"/>
                </a:solidFill>
                <a:effectLst/>
                <a:latin typeface="Roboto" panose="020F0502020204030204" pitchFamily="2" charset="0"/>
              </a:rPr>
              <a:t>By these we can say that only minority  customer opted out for credit card service.</a:t>
            </a:r>
            <a:endParaRPr lang="en-IN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92AF3-C974-BF88-7499-63E03FE0B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787" y="448161"/>
            <a:ext cx="4876800" cy="1324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7576F0-8A39-927E-B7F0-1AA7014CEE86}"/>
              </a:ext>
            </a:extLst>
          </p:cNvPr>
          <p:cNvSpPr txBox="1"/>
          <p:nvPr/>
        </p:nvSpPr>
        <p:spPr>
          <a:xfrm>
            <a:off x="97666" y="186132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/>
              <a:t>ANALYSIS ON DEMOGRAPHIC VARIABLES:</a:t>
            </a:r>
            <a:endParaRPr lang="en-IN" sz="2000" b="1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022D75C-EB65-2DEC-D000-2FF663BEA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787" y="4551564"/>
            <a:ext cx="5053781" cy="20804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71F2B2-1A35-9573-E333-8554A751627F}"/>
              </a:ext>
            </a:extLst>
          </p:cNvPr>
          <p:cNvSpPr txBox="1"/>
          <p:nvPr/>
        </p:nvSpPr>
        <p:spPr>
          <a:xfrm>
            <a:off x="48131" y="2322956"/>
            <a:ext cx="619506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1.Gender Disparity in Attrition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Female customers exhibit a higher attrition rate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17.4%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 compared to males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14.6%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), suggesting potential gaps in service or product alignment for women.</a:t>
            </a:r>
          </a:p>
          <a:p>
            <a:pPr algn="l">
              <a:lnSpc>
                <a:spcPts val="2143"/>
              </a:lnSpc>
              <a:spcBef>
                <a:spcPts val="300"/>
              </a:spcBef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2.Retention Advantage for Males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Male customers show stronger loyalty with 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85.4% retention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 versus 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82.6% for females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, highlighting a need to address female-specific churn drivers</a:t>
            </a:r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30FCC3F0-B10F-013A-F068-FFDAB2DAC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787" y="1973088"/>
            <a:ext cx="5053781" cy="24859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AFAA18-CAE5-CFE2-4F5E-D5F9219D5B57}"/>
              </a:ext>
            </a:extLst>
          </p:cNvPr>
          <p:cNvSpPr txBox="1"/>
          <p:nvPr/>
        </p:nvSpPr>
        <p:spPr>
          <a:xfrm>
            <a:off x="90291" y="4338892"/>
            <a:ext cx="6110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Majority customers between 40 to 60 age group and Most churn rate between 40 to 60 age group.</a:t>
            </a:r>
          </a:p>
        </p:txBody>
      </p:sp>
    </p:spTree>
    <p:extLst>
      <p:ext uri="{BB962C8B-B14F-4D97-AF65-F5344CB8AC3E}">
        <p14:creationId xmlns:p14="http://schemas.microsoft.com/office/powerpoint/2010/main" val="266671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42A9136-6633-4EA4-CBCA-F6C5B8666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484" y="2926711"/>
            <a:ext cx="5853266" cy="33233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CB83DA-2BCF-BA12-392B-D76ADF2F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2926711"/>
            <a:ext cx="5853267" cy="33233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E7D6F422-7A37-11E5-9C8F-71F2C5DB2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161" y="40558"/>
            <a:ext cx="5853267" cy="28127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B49A0-C501-CFCD-A6C2-3E0962415E47}"/>
              </a:ext>
            </a:extLst>
          </p:cNvPr>
          <p:cNvSpPr txBox="1"/>
          <p:nvPr/>
        </p:nvSpPr>
        <p:spPr>
          <a:xfrm>
            <a:off x="83571" y="198993"/>
            <a:ext cx="6086167" cy="2631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Attrition Range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14.6%–17.6% across dependent counts; highest at 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17.64% for 3 dependents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Education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Doctorate holders attrition most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21.06%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); College/High School/Graduate retain best (~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85%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Marital Status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Married most loyal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15.13% attrition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); Unknown status highest risk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17.22%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). Singles/Divorced ~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16–17%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Stability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Unknown/Uneducated slightly less stable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16.85%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, 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15.94%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562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A3F2-8B70-67D7-999B-3C1513FD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48" y="-116323"/>
            <a:ext cx="10617766" cy="745587"/>
          </a:xfrm>
        </p:spPr>
        <p:txBody>
          <a:bodyPr>
            <a:normAutofit/>
          </a:bodyPr>
          <a:lstStyle/>
          <a:p>
            <a:r>
              <a:rPr lang="en-US" sz="2400" b="1" u="sng"/>
              <a:t>ANALYSIS ON FINANCIAL VARIABLES:</a:t>
            </a:r>
            <a:endParaRPr lang="en-IN" sz="2400" b="1" u="sng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F90624-2D8F-7614-2CC9-1817A61FA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627" y="175069"/>
            <a:ext cx="5318325" cy="29793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943522-D5DE-3CCD-FA64-59AF8521A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627" y="3233090"/>
            <a:ext cx="5318325" cy="29436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7B80835-EF16-6CC8-2885-C1E897334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48" y="3878638"/>
            <a:ext cx="6482229" cy="29436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E3A08E-546E-87F9-8456-1B3CD9E7D733}"/>
              </a:ext>
            </a:extLst>
          </p:cNvPr>
          <p:cNvSpPr txBox="1"/>
          <p:nvPr/>
        </p:nvSpPr>
        <p:spPr>
          <a:xfrm>
            <a:off x="125048" y="337027"/>
            <a:ext cx="6482229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Income &lt;$40K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High customer base but high attrition, suggesting dissatisfaction in lower-income groups.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Income $120K+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Elevated attrition despite high income, possibly due to unmet expectations or better competitor offers.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Platinum cardholders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Highest attrition rate at 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25%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, indicating premium customer dissatisfaction.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Blue cardholders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Largest group with moderate attrition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16%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), reflecting average loyalty.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Silver cardholders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Best retention rate (</a:t>
            </a: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85.2% attrition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Credit limit &lt;$5K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Highest churn risk among low-limit customers.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Credit limit ≥$15K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Strong retention, showing loyalty in high-limit segments.</a:t>
            </a:r>
          </a:p>
        </p:txBody>
      </p:sp>
    </p:spTree>
    <p:extLst>
      <p:ext uri="{BB962C8B-B14F-4D97-AF65-F5344CB8AC3E}">
        <p14:creationId xmlns:p14="http://schemas.microsoft.com/office/powerpoint/2010/main" val="2233452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04A0DA1-4DE0-32EB-AFB0-4B0223036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78312"/>
            <a:ext cx="11049000" cy="401791"/>
          </a:xfrm>
        </p:spPr>
        <p:txBody>
          <a:bodyPr>
            <a:noAutofit/>
          </a:bodyPr>
          <a:lstStyle/>
          <a:p>
            <a:r>
              <a:rPr lang="en-US" sz="2400" b="1" u="sng"/>
              <a:t>ANALYSIS ON BEHAVIORAL ANALYSIS :</a:t>
            </a:r>
            <a:endParaRPr lang="en-IN" sz="2400" b="1" u="sng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7385FA9-25D2-4B82-5323-C57DA47FC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66392"/>
            <a:ext cx="5389614" cy="2879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577A20A-3A3E-FED2-E20B-A5BC92513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234402"/>
            <a:ext cx="5389614" cy="2978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BD5C29DD-A151-9911-9622-5043ACA50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93" y="3482385"/>
            <a:ext cx="5694413" cy="31645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1A25B0-F844-45E8-7FE8-F756CBFBF61B}"/>
              </a:ext>
            </a:extLst>
          </p:cNvPr>
          <p:cNvSpPr txBox="1"/>
          <p:nvPr/>
        </p:nvSpPr>
        <p:spPr>
          <a:xfrm>
            <a:off x="304800" y="61272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Attrited customers </a:t>
            </a: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were inactive for a longer average duration</a:t>
            </a: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 (2.69 months).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Existing customers </a:t>
            </a: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showed slightly better engagement</a:t>
            </a: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 (2.27 months inactive).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52B34-7043-ACAE-601C-A7C47E5AEC64}"/>
              </a:ext>
            </a:extLst>
          </p:cNvPr>
          <p:cNvSpPr txBox="1"/>
          <p:nvPr/>
        </p:nvSpPr>
        <p:spPr>
          <a:xfrm>
            <a:off x="304800" y="1527639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Attrited customers </a:t>
            </a: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contacted the bank more frequently </a:t>
            </a: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(2.97 times/year).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Existing customers </a:t>
            </a: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reached out less </a:t>
            </a: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(2.36 times/year).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Higher contact frequency </a:t>
            </a: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may indicate unresolved issues or dissatisfaction.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FE0749-F7BE-B0B0-C989-2C0DDBAC85BF}"/>
              </a:ext>
            </a:extLst>
          </p:cNvPr>
          <p:cNvSpPr txBox="1"/>
          <p:nvPr/>
        </p:nvSpPr>
        <p:spPr>
          <a:xfrm>
            <a:off x="304800" y="2636952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Existing customers have a higher </a:t>
            </a: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average relationship count (3.91) </a:t>
            </a: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than </a:t>
            </a:r>
            <a:r>
              <a:rPr lang="en-US" b="1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attrited ones (3.28).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Stronger engagement appears to correlate with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338736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826B-A4AD-107B-9850-B067874AB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14" y="0"/>
            <a:ext cx="10515600" cy="382127"/>
          </a:xfrm>
        </p:spPr>
        <p:txBody>
          <a:bodyPr>
            <a:normAutofit fontScale="90000"/>
          </a:bodyPr>
          <a:lstStyle/>
          <a:p>
            <a:r>
              <a:rPr lang="en-US" sz="2400" b="1" u="sng"/>
              <a:t>ANALYSIS ON TRANSACTION ANALYSIS:</a:t>
            </a:r>
            <a:endParaRPr lang="en-IN" sz="2400" b="1" u="sng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68F451F2-EE67-E4EE-4A24-5F71AFCF3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933" y="3028571"/>
            <a:ext cx="3753465" cy="2774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F810DF25-535A-D9C9-FA33-CD612F418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797" y="3873910"/>
            <a:ext cx="4001727" cy="29840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>
            <a:extLst>
              <a:ext uri="{FF2B5EF4-FFF2-40B4-BE49-F238E27FC236}">
                <a16:creationId xmlns:a16="http://schemas.microsoft.com/office/drawing/2014/main" id="{582B3B03-9997-72F8-5FEB-0A774F654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933" y="148816"/>
            <a:ext cx="3733795" cy="25481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710412E3-F914-C593-0793-54EA84FCD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14" y="1988056"/>
            <a:ext cx="1494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16" name="Picture 20">
            <a:extLst>
              <a:ext uri="{FF2B5EF4-FFF2-40B4-BE49-F238E27FC236}">
                <a16:creationId xmlns:a16="http://schemas.microsoft.com/office/drawing/2014/main" id="{F792A531-5632-4C81-0814-7F53B63B1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71" y="3859568"/>
            <a:ext cx="3891117" cy="29984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55380A-A921-883D-8B71-8D29F238891B}"/>
              </a:ext>
            </a:extLst>
          </p:cNvPr>
          <p:cNvSpPr txBox="1"/>
          <p:nvPr/>
        </p:nvSpPr>
        <p:spPr>
          <a:xfrm>
            <a:off x="116014" y="339879"/>
            <a:ext cx="799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Transaction patterns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Existing customers show multiple high-value transaction peaks, while attrited customers peak only at lower amounts (2500-3000), indicating reduced spending before churn.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Engagement levels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Existing customers demonstrate frequent usage (peaking at ~75 transactions) versus attrited customers' limited activity (~40 transactions).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Spending correlation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Higher transaction counts/amounts in existing customers reveal a positive link between engagement and retention.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Credit utilization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Attrited customers cluster near zero utilization, while existing customers show broader, higher usage, reflecting deeper financial involvement.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800" b="1" i="0">
                <a:solidFill>
                  <a:srgbClr val="404040"/>
                </a:solidFill>
                <a:effectLst/>
                <a:latin typeface="DeepSeek-CJK-patch"/>
              </a:rPr>
              <a:t>Behavioral insight</a:t>
            </a:r>
            <a:r>
              <a:rPr lang="en-US" sz="1800" b="0" i="0">
                <a:solidFill>
                  <a:srgbClr val="404040"/>
                </a:solidFill>
                <a:effectLst/>
                <a:latin typeface="DeepSeek-CJK-patch"/>
              </a:rPr>
              <a:t>: Lower transaction activity and credit utilization signal impending attrition, contrasting with active customers' robust financial engagement.</a:t>
            </a:r>
          </a:p>
        </p:txBody>
      </p:sp>
    </p:spTree>
    <p:extLst>
      <p:ext uri="{BB962C8B-B14F-4D97-AF65-F5344CB8AC3E}">
        <p14:creationId xmlns:p14="http://schemas.microsoft.com/office/powerpoint/2010/main" val="31900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F61C7-E7F0-1063-C33B-F1EC3B9C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96" y="99654"/>
            <a:ext cx="10515600" cy="480449"/>
          </a:xfrm>
        </p:spPr>
        <p:txBody>
          <a:bodyPr>
            <a:normAutofit/>
          </a:bodyPr>
          <a:lstStyle/>
          <a:p>
            <a:r>
              <a:rPr lang="en-US" sz="2400" u="sng"/>
              <a:t>RECOMMENDATIONS:</a:t>
            </a:r>
            <a:endParaRPr lang="en-IN" sz="2400" u="sng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A28DB60-2FAA-765C-24C0-B0269920C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775" y="580103"/>
            <a:ext cx="10515600" cy="5596860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Target high-risk groups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Focus on customers aged 40-60, those with 2-4 dependents, and doctorate holders (21% churn)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Develop marital status-based engagement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Strengthen outreach to single/divorced and "unknown" status customers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Implement financial wellness programs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Offer support for customers showing financial strain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Provide credit counseling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Introduce budgeting tools to help manage revolving balances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Improve data collection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Reduce "unknown" marital status entries for better targeting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Launch loyalty rewards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Incentivize long-term customers in the 40-60 age bracket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Analyze transaction patterns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Identify service gaps from churned customers' data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>
                <a:solidFill>
                  <a:srgbClr val="404040"/>
                </a:solidFill>
                <a:effectLst/>
                <a:latin typeface="DeepSeek-CJK-patch"/>
              </a:rPr>
              <a:t>Optimize credit products</a:t>
            </a:r>
            <a:r>
              <a:rPr lang="en-US" b="0" i="0">
                <a:solidFill>
                  <a:srgbClr val="404040"/>
                </a:solidFill>
                <a:effectLst/>
                <a:latin typeface="DeepSeek-CJK-patch"/>
              </a:rPr>
              <a:t>: Review and adjust credit limits and utilization ratios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8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857</Words>
  <Application>Microsoft Office PowerPoint</Application>
  <PresentationFormat>Widescreen</PresentationFormat>
  <Paragraphs>60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 MT</vt:lpstr>
      <vt:lpstr>Arial</vt:lpstr>
      <vt:lpstr>Wingdings</vt:lpstr>
      <vt:lpstr>Roboto</vt:lpstr>
      <vt:lpstr>Calibri</vt:lpstr>
      <vt:lpstr>Arial Black</vt:lpstr>
      <vt:lpstr>DeepSeek-CJK-patch</vt:lpstr>
      <vt:lpstr>Libre Baskerville</vt:lpstr>
      <vt:lpstr>Office Theme</vt:lpstr>
      <vt:lpstr>PowerPoint Presentation</vt:lpstr>
      <vt:lpstr>PowerPoint Presentation</vt:lpstr>
      <vt:lpstr>Dataset  Analysis:</vt:lpstr>
      <vt:lpstr>ATTRITION FLAG:</vt:lpstr>
      <vt:lpstr>PowerPoint Presentation</vt:lpstr>
      <vt:lpstr>ANALYSIS ON FINANCIAL VARIABLES:</vt:lpstr>
      <vt:lpstr>ANALYSIS ON BEHAVIORAL ANALYSIS :</vt:lpstr>
      <vt:lpstr>ANALYSIS ON TRANSACTION ANALYSIS:</vt:lpstr>
      <vt:lpstr>RECOMMENDATIONS: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thirumal reddy</cp:lastModifiedBy>
  <cp:revision>7</cp:revision>
  <dcterms:created xsi:type="dcterms:W3CDTF">2021-02-16T05:19:01Z</dcterms:created>
  <dcterms:modified xsi:type="dcterms:W3CDTF">2025-04-30T11:11:28Z</dcterms:modified>
</cp:coreProperties>
</file>